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667EEA"/>
                </a:solidFill>
              </a:defRPr>
            </a:pPr>
            <a:r>
              <a:t>课程演示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AI智能生成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667EEA"/>
                </a:solidFill>
              </a:defRPr>
            </a:pPr>
            <a:r>
              <a:t>课程内容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大纲：南亚建筑--将树种进房子里</a:t>
            </a:r>
          </a:p>
          <a:p>
            <a:pPr>
              <a:spcAft>
                <a:spcPts val="1200"/>
              </a:spcAft>
              <a:defRPr sz="1800"/>
            </a:pPr>
            <a:r>
              <a:t>1. 引言</a:t>
            </a:r>
          </a:p>
          <a:p>
            <a:pPr>
              <a:spcAft>
                <a:spcPts val="1200"/>
              </a:spcAft>
              <a:defRPr sz="1800"/>
            </a:pPr>
            <a:r>
              <a:t>主题介绍：南亚建筑中的绿色创新理念——将树种进房子里</a:t>
            </a:r>
          </a:p>
          <a:p>
            <a:pPr>
              <a:spcAft>
                <a:spcPts val="1200"/>
              </a:spcAft>
              <a:defRPr sz="1800"/>
            </a:pPr>
            <a:r>
              <a:t>背景说明：在人口增长和气候变化背景下，城市建筑面临的挑战与机遇</a:t>
            </a:r>
          </a:p>
          <a:p>
            <a:pPr>
              <a:spcAft>
                <a:spcPts val="1200"/>
              </a:spcAft>
              <a:defRPr sz="1800"/>
            </a:pPr>
            <a:r>
              <a:t>2. “绿色心脏”新加坡一号码头</a:t>
            </a:r>
          </a:p>
          <a:p>
            <a:pPr>
              <a:spcAft>
                <a:spcPts val="1200"/>
              </a:spcAft>
              <a:defRPr sz="1800"/>
            </a:pPr>
            <a:r>
              <a:t>项目概述：</a:t>
            </a:r>
          </a:p>
          <a:p>
            <a:pPr>
              <a:spcAft>
                <a:spcPts val="1200"/>
              </a:spcAft>
              <a:defRPr sz="1800"/>
            </a:pPr>
            <a:r>
              <a:t>“Marina One”建筑综合体简介</a:t>
            </a:r>
          </a:p>
          <a:p>
            <a:pPr>
              <a:spcAft>
                <a:spcPts val="1200"/>
              </a:spcAft>
              <a:defRPr sz="1800"/>
            </a:pPr>
            <a:r>
              <a:t>项目位置与重要性：作为生活和工作区的国际范例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667EEA"/>
                </a:solidFill>
              </a:defRPr>
            </a:pPr>
            <a:r>
              <a:t>课程内容 (续)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设计特点：</a:t>
            </a:r>
          </a:p>
          <a:p>
            <a:pPr>
              <a:spcAft>
                <a:spcPts val="1200"/>
              </a:spcAft>
              <a:defRPr sz="1800"/>
            </a:pPr>
            <a:r>
              <a:t>四栋高层建筑围合出“绿色心脏”公共空间</a:t>
            </a:r>
          </a:p>
          <a:p>
            <a:pPr>
              <a:spcAft>
                <a:spcPts val="1200"/>
              </a:spcAft>
              <a:defRPr sz="1800"/>
            </a:pPr>
            <a:r>
              <a:t>立体绿洲设计，反映热带植物多样性</a:t>
            </a:r>
          </a:p>
          <a:p>
            <a:pPr>
              <a:spcAft>
                <a:spcPts val="1200"/>
              </a:spcAft>
              <a:defRPr sz="1800"/>
            </a:pPr>
            <a:r>
              <a:t>建筑结构有机形状，百叶窗与大面积种植</a:t>
            </a:r>
          </a:p>
          <a:p>
            <a:pPr>
              <a:spcAft>
                <a:spcPts val="1200"/>
              </a:spcAft>
              <a:defRPr sz="1800"/>
            </a:pPr>
            <a:r>
              <a:t>生态与环境效益：</a:t>
            </a:r>
          </a:p>
          <a:p>
            <a:pPr>
              <a:spcAft>
                <a:spcPts val="1200"/>
              </a:spcAft>
              <a:defRPr sz="1800"/>
            </a:pPr>
            <a:r>
              <a:t>改善微气候，增加生物多样性</a:t>
            </a:r>
          </a:p>
          <a:p>
            <a:pPr>
              <a:spcAft>
                <a:spcPts val="1200"/>
              </a:spcAft>
              <a:defRPr sz="1800"/>
            </a:pPr>
            <a:r>
              <a:t>含有超过350种树木和植物，700颗树，3700平方米的景观</a:t>
            </a:r>
          </a:p>
          <a:p>
            <a:pPr>
              <a:spcAft>
                <a:spcPts val="1200"/>
              </a:spcAft>
              <a:defRPr sz="1800"/>
            </a:pPr>
            <a:r>
              <a:t>多种动物构成生物多样性一部分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667EEA"/>
                </a:solidFill>
              </a:defRPr>
            </a:pPr>
            <a:r>
              <a:t>课程内容 (续)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气候变化根据层数变化，模拟绿色山谷环境</a:t>
            </a:r>
          </a:p>
          <a:p>
            <a:pPr>
              <a:spcAft>
                <a:spcPts val="1200"/>
              </a:spcAft>
              <a:defRPr sz="1800"/>
            </a:pPr>
            <a:r>
              <a:t>3. “伊甸园”新加坡公寓</a:t>
            </a:r>
          </a:p>
          <a:p>
            <a:pPr>
              <a:spcAft>
                <a:spcPts val="1200"/>
              </a:spcAft>
              <a:defRPr sz="1800"/>
            </a:pPr>
            <a:r>
              <a:t>项目概述：新加坡公寓楼设计，融合自然元素</a:t>
            </a:r>
          </a:p>
          <a:p>
            <a:pPr>
              <a:spcAft>
                <a:spcPts val="1200"/>
              </a:spcAft>
              <a:defRPr sz="1800"/>
            </a:pPr>
            <a:r>
              <a:t>设计特点：</a:t>
            </a:r>
          </a:p>
          <a:p>
            <a:pPr>
              <a:spcAft>
                <a:spcPts val="1200"/>
              </a:spcAft>
              <a:defRPr sz="1800"/>
            </a:pPr>
            <a:r>
              <a:t>细长窗户营造垂直线条感，花园阳台布置</a:t>
            </a:r>
          </a:p>
          <a:p>
            <a:pPr>
              <a:spcAft>
                <a:spcPts val="1200"/>
              </a:spcAft>
              <a:defRPr sz="1800"/>
            </a:pPr>
            <a:r>
              <a:t>混凝土墙源于新加坡地形外貌的抽象化处理</a:t>
            </a:r>
          </a:p>
          <a:p>
            <a:pPr>
              <a:spcAft>
                <a:spcPts val="1200"/>
              </a:spcAft>
              <a:defRPr sz="1800"/>
            </a:pPr>
            <a:r>
              <a:t>居住体验：</a:t>
            </a:r>
          </a:p>
          <a:p>
            <a:pPr>
              <a:spcAft>
                <a:spcPts val="1200"/>
              </a:spcAft>
              <a:defRPr sz="1800"/>
            </a:pPr>
            <a:r>
              <a:t>保证用户私密性的同时，提供亲近自然的生活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667EEA"/>
                </a:solidFill>
              </a:defRPr>
            </a:pPr>
            <a:r>
              <a:t>课程内容 (续)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悬挑阳台设计，联通室内与户外，提供城市绿景观赏视角</a:t>
            </a:r>
          </a:p>
          <a:p>
            <a:pPr>
              <a:spcAft>
                <a:spcPts val="1200"/>
              </a:spcAft>
              <a:defRPr sz="1800"/>
            </a:pPr>
            <a:r>
              <a:t>4. 槟城森林工厂</a:t>
            </a:r>
          </a:p>
          <a:p>
            <a:pPr>
              <a:spcAft>
                <a:spcPts val="1200"/>
              </a:spcAft>
              <a:defRPr sz="1800"/>
            </a:pPr>
            <a:r>
              <a:t>项目概述：位于森林中的工厂建筑，最大化建筑与自然的联系</a:t>
            </a:r>
          </a:p>
          <a:p>
            <a:pPr>
              <a:spcAft>
                <a:spcPts val="1200"/>
              </a:spcAft>
              <a:defRPr sz="1800"/>
            </a:pPr>
            <a:r>
              <a:t>设计特点：</a:t>
            </a:r>
          </a:p>
          <a:p>
            <a:pPr>
              <a:spcAft>
                <a:spcPts val="1200"/>
              </a:spcAft>
              <a:defRPr sz="1800"/>
            </a:pPr>
            <a:r>
              <a:t>圆柱“森林”支撑顶棚，与办公室和庭院连为一体</a:t>
            </a:r>
          </a:p>
          <a:p>
            <a:pPr>
              <a:spcAft>
                <a:spcPts val="1200"/>
              </a:spcAft>
              <a:defRPr sz="1800"/>
            </a:pPr>
            <a:r>
              <a:t>绿色庭院分隔办公室与生产工厂，连桥连接</a:t>
            </a:r>
          </a:p>
          <a:p>
            <a:pPr>
              <a:spcAft>
                <a:spcPts val="1200"/>
              </a:spcAft>
              <a:defRPr sz="1800"/>
            </a:pPr>
            <a:r>
              <a:t>落地窗、天窗、独立异形混凝土肋条与屋顶百叶设计</a:t>
            </a:r>
          </a:p>
          <a:p>
            <a:pPr>
              <a:spcAft>
                <a:spcPts val="1200"/>
              </a:spcAft>
              <a:defRPr sz="1800"/>
            </a:pPr>
            <a:r>
              <a:t>生态与环境效益：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667EEA"/>
                </a:solidFill>
              </a:defRPr>
            </a:pPr>
            <a:r>
              <a:t>课程内容 (续)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提供热带阳光下的保护伞，鼓励员工出外休息、开会及思考</a:t>
            </a:r>
          </a:p>
          <a:p>
            <a:pPr>
              <a:spcAft>
                <a:spcPts val="1200"/>
              </a:spcAft>
              <a:defRPr sz="1800"/>
            </a:pPr>
            <a:r>
              <a:t>雨水收集与灌溉系统，增强对热带风暴的意识</a:t>
            </a:r>
          </a:p>
          <a:p>
            <a:pPr>
              <a:spcAft>
                <a:spcPts val="1200"/>
              </a:spcAft>
              <a:defRPr sz="1800"/>
            </a:pPr>
            <a:r>
              <a:t>工厂通过窗户欣赏周围景观，优化工作环境</a:t>
            </a:r>
          </a:p>
          <a:p>
            <a:pPr>
              <a:spcAft>
                <a:spcPts val="1200"/>
              </a:spcAft>
              <a:defRPr sz="1800"/>
            </a:pPr>
            <a:r>
              <a:t>5. 结论与展望</a:t>
            </a:r>
          </a:p>
          <a:p>
            <a:pPr>
              <a:spcAft>
                <a:spcPts val="1200"/>
              </a:spcAft>
              <a:defRPr sz="1800"/>
            </a:pPr>
            <a:r>
              <a:t>总结：南亚建筑中的绿色创新理念与实践，提升城市生活质量与环境可持续性</a:t>
            </a:r>
          </a:p>
          <a:p>
            <a:pPr>
              <a:spcAft>
                <a:spcPts val="1200"/>
              </a:spcAft>
              <a:defRPr sz="1800"/>
            </a:pPr>
            <a:r>
              <a:t>未来展望：</a:t>
            </a:r>
          </a:p>
          <a:p>
            <a:pPr>
              <a:spcAft>
                <a:spcPts val="1200"/>
              </a:spcAft>
              <a:defRPr sz="1800"/>
            </a:pPr>
            <a:r>
              <a:t>绿色建筑在全球范围内的推广与应用</a:t>
            </a:r>
          </a:p>
          <a:p>
            <a:pPr>
              <a:spcAft>
                <a:spcPts val="1200"/>
              </a:spcAft>
              <a:defRPr sz="1800"/>
            </a:pPr>
            <a:r>
              <a:t>持续探索建筑与自然和谐共生的新路径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54864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667EEA"/>
                </a:solidFill>
              </a:defRPr>
            </a:pPr>
            <a:r>
              <a:t>谢谢观看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